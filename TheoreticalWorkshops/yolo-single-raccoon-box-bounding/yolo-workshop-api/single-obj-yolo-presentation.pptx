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3"/>
  </p:notesMasterIdLst>
  <p:sldIdLst>
    <p:sldId id="256" r:id="rId5"/>
    <p:sldId id="257" r:id="rId6"/>
    <p:sldId id="272" r:id="rId7"/>
    <p:sldId id="282" r:id="rId8"/>
    <p:sldId id="283" r:id="rId9"/>
    <p:sldId id="281" r:id="rId10"/>
    <p:sldId id="277" r:id="rId11"/>
    <p:sldId id="278" r:id="rId12"/>
    <p:sldId id="279" r:id="rId13"/>
    <p:sldId id="285" r:id="rId14"/>
    <p:sldId id="284" r:id="rId15"/>
    <p:sldId id="286" r:id="rId16"/>
    <p:sldId id="287" r:id="rId17"/>
    <p:sldId id="288" r:id="rId18"/>
    <p:sldId id="270" r:id="rId19"/>
    <p:sldId id="271" r:id="rId20"/>
    <p:sldId id="289" r:id="rId21"/>
    <p:sldId id="291" r:id="rId22"/>
    <p:sldId id="290" r:id="rId23"/>
    <p:sldId id="292" r:id="rId24"/>
    <p:sldId id="293" r:id="rId25"/>
    <p:sldId id="294" r:id="rId26"/>
    <p:sldId id="299" r:id="rId27"/>
    <p:sldId id="300" r:id="rId28"/>
    <p:sldId id="301" r:id="rId29"/>
    <p:sldId id="295" r:id="rId30"/>
    <p:sldId id="297" r:id="rId31"/>
    <p:sldId id="298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EDF15F-A7AA-4594-BD19-D6DBAAFDFCA9}" v="67" dt="2026-01-22T22:31:09.4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122A6-A777-4642-ADC2-A5DDF3E90FAE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45BA3-B95A-4817-A15A-4BCCA94FEF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00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idea: neural networks only take in vectors of numbers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45BA3-B95A-4817-A15A-4BCCA94FEF5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51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Neural network takes in a list of numbers and outputs a new list of numbers. We update the weights in the model so that for similar inputs, we get an output corresponding to the similarity in those inputs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45BA3-B95A-4817-A15A-4BCCA94FEF5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5414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whiteboard and write the 2d discrete convolution on the whiteboard next to the interactive board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45BA3-B95A-4817-A15A-4BCCA94FEF5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4291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C45BA3-B95A-4817-A15A-4BCCA94FEF5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21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073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8253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898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93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1686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11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7197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357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6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330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460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14795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87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2099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0665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640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638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5C8F5D9-343C-4642-B561-4E2434C491A5}" type="datetimeFigureOut">
              <a:rPr lang="en-GB" smtClean="0"/>
              <a:t>25/01/2026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1790C-5FDC-4D58-AA96-6C91343C27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8432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3CBB9-B36D-D9E9-4AAA-FB8737CBA6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Object Detection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3BA956-90A7-DDFD-CD23-CD2C4B545D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Edinburgh ai</a:t>
            </a:r>
            <a:endParaRPr lang="en-GB" dirty="0"/>
          </a:p>
        </p:txBody>
      </p:sp>
      <p:pic>
        <p:nvPicPr>
          <p:cNvPr id="1026" name="Picture 2" descr="Edinburgh AI - University of Edinburgh AI Society">
            <a:extLst>
              <a:ext uri="{FF2B5EF4-FFF2-40B4-BE49-F238E27FC236}">
                <a16:creationId xmlns:a16="http://schemas.microsoft.com/office/drawing/2014/main" id="{2056B586-338F-B86A-096D-671A6E2AC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458" y="2693490"/>
            <a:ext cx="25146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02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B910C-BD1B-27EE-F26B-3C26C9F9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we’ll be building today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ED73F-E37E-97B5-1FD4-30D2E81CF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43774"/>
            <a:ext cx="8946541" cy="4195481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19F56-B6CD-1013-00FD-C7E7B3E33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151" y="1526782"/>
            <a:ext cx="5089629" cy="501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38631F-DEF0-7EDB-56FF-C187C0F43909}"/>
              </a:ext>
            </a:extLst>
          </p:cNvPr>
          <p:cNvSpPr txBox="1"/>
          <p:nvPr/>
        </p:nvSpPr>
        <p:spPr>
          <a:xfrm>
            <a:off x="1523999" y="1764146"/>
            <a:ext cx="89038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Recap:</a:t>
            </a:r>
          </a:p>
          <a:p>
            <a:pPr algn="ctr"/>
            <a:r>
              <a:rPr lang="en-US" sz="6000" b="1" dirty="0"/>
              <a:t>What is a Neural Network?</a:t>
            </a:r>
            <a:endParaRPr lang="en-GB" sz="6000" b="1" dirty="0"/>
          </a:p>
        </p:txBody>
      </p:sp>
    </p:spTree>
    <p:extLst>
      <p:ext uri="{BB962C8B-B14F-4D97-AF65-F5344CB8AC3E}">
        <p14:creationId xmlns:p14="http://schemas.microsoft.com/office/powerpoint/2010/main" val="333526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F756B-5445-6E8E-76EE-78087897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overview</a:t>
            </a:r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551F7CA-DDFA-08F1-03BD-4AC75D6CE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16131" y="1856640"/>
            <a:ext cx="5124713" cy="9779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581105-3DFD-94A4-5F3C-0AB4E88F4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469" y="3429000"/>
            <a:ext cx="3626036" cy="217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5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479236-8E20-1D07-E2A7-6ECBDDE73CE7}"/>
              </a:ext>
            </a:extLst>
          </p:cNvPr>
          <p:cNvSpPr txBox="1"/>
          <p:nvPr/>
        </p:nvSpPr>
        <p:spPr>
          <a:xfrm>
            <a:off x="1985818" y="2071884"/>
            <a:ext cx="806334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If neural networks take in numbers, how do we input an image into one?</a:t>
            </a:r>
            <a:endParaRPr lang="en-GB" sz="5000" dirty="0"/>
          </a:p>
        </p:txBody>
      </p:sp>
    </p:spTree>
    <p:extLst>
      <p:ext uri="{BB962C8B-B14F-4D97-AF65-F5344CB8AC3E}">
        <p14:creationId xmlns:p14="http://schemas.microsoft.com/office/powerpoint/2010/main" val="377191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8B27-E2E4-AFCF-3CB3-6901854C3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apply a neural network to images?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799DE-DFCB-6E60-DDDA-E3DD06303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At its core, an image on a computer is just a matrix of pixels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Each pixel has a Red, a green and a blue value. Together they make a colour.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5B59FA-2880-1969-AD58-98FB3667E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058" y="3844730"/>
            <a:ext cx="4041931" cy="232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45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88D3-1595-C3FC-32E4-8DF3ADC0A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B09B8-6C57-DD28-D126-D77B2883D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convolutional is just a neural network that has layers that perform a convolution.</a:t>
            </a:r>
          </a:p>
          <a:p>
            <a:endParaRPr lang="en-US" dirty="0"/>
          </a:p>
          <a:p>
            <a:pPr marL="0" indent="0">
              <a:buNone/>
            </a:pPr>
            <a:r>
              <a:rPr lang="en-GB" dirty="0"/>
              <a:t>The equation we use for our convolution varies on the dimension of our input.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e.g.</a:t>
            </a:r>
          </a:p>
          <a:p>
            <a:r>
              <a:rPr lang="en-GB" dirty="0"/>
              <a:t>1d convolution – used for audio waves, stock prices</a:t>
            </a:r>
          </a:p>
          <a:p>
            <a:r>
              <a:rPr lang="en-GB" dirty="0"/>
              <a:t>2d convolution – used for 2d images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647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77B86-6648-DA01-CDB4-F86D7254D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So, what is a convolution?</a:t>
            </a:r>
            <a:endParaRPr lang="en-GB" dirty="0"/>
          </a:p>
        </p:txBody>
      </p:sp>
      <p:pic>
        <p:nvPicPr>
          <p:cNvPr id="1026" name="Picture 2" descr="Convolutional Neural Networks (CNNs) explained - deeplizard">
            <a:extLst>
              <a:ext uri="{FF2B5EF4-FFF2-40B4-BE49-F238E27FC236}">
                <a16:creationId xmlns:a16="http://schemas.microsoft.com/office/drawing/2014/main" id="{9269B5E5-32BC-593F-72D4-DEF8882C6A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732" y="1622338"/>
            <a:ext cx="3833269" cy="4357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521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682E-0802-0D2F-F469-55F5320D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convolutions for image processing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74649-3F56-F720-DE83-2CD1C8A4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Convolutional neural networks are very good at being aware of not just what is in image, but also where.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we know all the small features in an image and where they are, we can decipher what’s in the image!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112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E8D2-2DCB-91AA-C4EC-3CBBF49C4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What’s in this image?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5FA2DE-22DA-BF90-2E6B-4B1B2F1EE0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4581" y="1814309"/>
            <a:ext cx="5224614" cy="467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76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6785-2CC7-5313-9A20-378BF2997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person! (debatably)</a:t>
            </a:r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AEAB4E1-19E7-88C7-CE25-224FA2F5D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7462" y="1297582"/>
            <a:ext cx="5226518" cy="52265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CFE5E9-E6FF-78F1-7B1A-8C2CE4D88FD4}"/>
              </a:ext>
            </a:extLst>
          </p:cNvPr>
          <p:cNvSpPr txBox="1"/>
          <p:nvPr/>
        </p:nvSpPr>
        <p:spPr>
          <a:xfrm>
            <a:off x="4655453" y="3244334"/>
            <a:ext cx="693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eye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172A40-5A4C-08D7-7CC0-53ABD4429495}"/>
              </a:ext>
            </a:extLst>
          </p:cNvPr>
          <p:cNvSpPr txBox="1"/>
          <p:nvPr/>
        </p:nvSpPr>
        <p:spPr>
          <a:xfrm>
            <a:off x="6347895" y="3244334"/>
            <a:ext cx="693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eye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C567D6-42D8-8214-B5A3-7F6A5DA06664}"/>
              </a:ext>
            </a:extLst>
          </p:cNvPr>
          <p:cNvSpPr txBox="1"/>
          <p:nvPr/>
        </p:nvSpPr>
        <p:spPr>
          <a:xfrm>
            <a:off x="5231364" y="4653384"/>
            <a:ext cx="693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mouth</a:t>
            </a:r>
            <a:endParaRPr lang="en-GB" sz="12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3162F4-64FA-EC86-5C27-4906BCA91FCC}"/>
              </a:ext>
            </a:extLst>
          </p:cNvPr>
          <p:cNvSpPr txBox="1"/>
          <p:nvPr/>
        </p:nvSpPr>
        <p:spPr>
          <a:xfrm>
            <a:off x="5775192" y="4651886"/>
            <a:ext cx="693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mouth</a:t>
            </a:r>
            <a:endParaRPr lang="en-GB" sz="1200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7BF405-4E01-4636-2770-9A281BEAA297}"/>
              </a:ext>
            </a:extLst>
          </p:cNvPr>
          <p:cNvSpPr txBox="1"/>
          <p:nvPr/>
        </p:nvSpPr>
        <p:spPr>
          <a:xfrm>
            <a:off x="4092409" y="3971942"/>
            <a:ext cx="6930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00"/>
                </a:solidFill>
              </a:rPr>
              <a:t>ear</a:t>
            </a:r>
            <a:endParaRPr lang="en-GB" sz="1500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AE6B25-3D80-00E5-93FD-F5B022F3827B}"/>
              </a:ext>
            </a:extLst>
          </p:cNvPr>
          <p:cNvSpPr txBox="1"/>
          <p:nvPr/>
        </p:nvSpPr>
        <p:spPr>
          <a:xfrm>
            <a:off x="7060064" y="3910841"/>
            <a:ext cx="6930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00"/>
                </a:solidFill>
              </a:rPr>
              <a:t>ear</a:t>
            </a:r>
            <a:endParaRPr lang="en-GB" sz="1500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FFE6B5-DDE1-9768-96A2-DD398C5F1093}"/>
              </a:ext>
            </a:extLst>
          </p:cNvPr>
          <p:cNvSpPr txBox="1"/>
          <p:nvPr/>
        </p:nvSpPr>
        <p:spPr>
          <a:xfrm>
            <a:off x="5229726" y="3993528"/>
            <a:ext cx="693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nose</a:t>
            </a:r>
            <a:endParaRPr lang="en-GB" sz="1200" dirty="0">
              <a:solidFill>
                <a:srgbClr val="FFF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7DC64C-CE9B-8B3D-5346-B2F895915115}"/>
              </a:ext>
            </a:extLst>
          </p:cNvPr>
          <p:cNvSpPr txBox="1"/>
          <p:nvPr/>
        </p:nvSpPr>
        <p:spPr>
          <a:xfrm>
            <a:off x="5807275" y="3993527"/>
            <a:ext cx="693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nose</a:t>
            </a:r>
            <a:endParaRPr lang="en-GB" sz="1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128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D267-FB36-A004-603A-46943992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a neural network classify what this is an image of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7E4D-B53A-7FEA-11CF-4EE3B2BE4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make it so each element in our output vector corresponds to a prediction of what is in the image.</a:t>
            </a:r>
          </a:p>
          <a:p>
            <a:pPr marL="0" indent="0">
              <a:buNone/>
            </a:pPr>
            <a:r>
              <a:rPr lang="en-US" dirty="0"/>
              <a:t>If the model believes the corresponding object is in the image it puts a 1 in its element, if it believes the image doesn’t contain the corresponding object it instead puts a 0.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068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B078D-2CB0-08A2-687C-386FFF1B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FB545-17A1-CA10-F489-6F0EE2AC3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the elements of our output vector correspond to:</a:t>
            </a:r>
          </a:p>
          <a:p>
            <a:pPr marL="0" indent="0">
              <a:buNone/>
            </a:pPr>
            <a:r>
              <a:rPr lang="en-US" dirty="0"/>
              <a:t>[dog, cat, horse, snake, rabbit]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our model believes there is a snake in the image it should output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[0,0,0,1,0]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7953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387B20-FF64-E612-C0A9-5CBD86906BCD}"/>
              </a:ext>
            </a:extLst>
          </p:cNvPr>
          <p:cNvSpPr txBox="1"/>
          <p:nvPr/>
        </p:nvSpPr>
        <p:spPr>
          <a:xfrm>
            <a:off x="1963554" y="2387065"/>
            <a:ext cx="74018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This is great for telling us what is in an image, but it doesn’t tell us where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23827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4B0301-D4BD-327B-6E09-258538BB5F67}"/>
              </a:ext>
            </a:extLst>
          </p:cNvPr>
          <p:cNvSpPr txBox="1"/>
          <p:nvPr/>
        </p:nvSpPr>
        <p:spPr>
          <a:xfrm>
            <a:off x="2871216" y="2331720"/>
            <a:ext cx="6400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YOLO Architecture</a:t>
            </a:r>
            <a:endParaRPr lang="en-GB" sz="6000" dirty="0"/>
          </a:p>
        </p:txBody>
      </p:sp>
    </p:spTree>
    <p:extLst>
      <p:ext uri="{BB962C8B-B14F-4D97-AF65-F5344CB8AC3E}">
        <p14:creationId xmlns:p14="http://schemas.microsoft.com/office/powerpoint/2010/main" val="2277871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743DB-8657-E0C2-3384-644A00E13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YOLO?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D618D-CB68-14B5-C014-89224B103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deep learning context, YOLO (You Only Look Once) is a computer vision architecture used for object detection and location in images and videos.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2A020-E4B8-9915-D9AA-4D481465D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148" y="1327056"/>
            <a:ext cx="8949704" cy="4194412"/>
          </a:xfrm>
          <a:prstGeom prst="rect">
            <a:avLst/>
          </a:prstGeom>
        </p:spPr>
      </p:pic>
      <p:pic>
        <p:nvPicPr>
          <p:cNvPr id="3074" name="Picture 2" descr="A simplified illustration of our object-detection architecture ...">
            <a:extLst>
              <a:ext uri="{FF2B5EF4-FFF2-40B4-BE49-F238E27FC236}">
                <a16:creationId xmlns:a16="http://schemas.microsoft.com/office/drawing/2014/main" id="{DE2F59CB-A06A-F0F7-D5E2-5EFF017F5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907" y="3519359"/>
            <a:ext cx="4943349" cy="2201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592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5FBD-E221-DFEB-CC29-5C3DC9D3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 makes one main simple change to our classification model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85467-32D8-D880-2171-18359331D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278" y="2052918"/>
            <a:ext cx="9029575" cy="41954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Instead of predicting a vector saying, “yes this is in the image”, it instead predicts a vector containing: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[confidence, object_center_x, object_center_y, box_height, </a:t>
            </a:r>
            <a:r>
              <a:rPr lang="en-US" dirty="0" err="1"/>
              <a:t>box_width</a:t>
            </a:r>
            <a:r>
              <a:rPr lang="en-US" dirty="0"/>
              <a:t>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Would anyone like to take a guess at what these values mean?</a:t>
            </a:r>
          </a:p>
        </p:txBody>
      </p:sp>
    </p:spTree>
    <p:extLst>
      <p:ext uri="{BB962C8B-B14F-4D97-AF65-F5344CB8AC3E}">
        <p14:creationId xmlns:p14="http://schemas.microsoft.com/office/powerpoint/2010/main" val="2123814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2536E-A1A6-80D6-B84E-C65753E8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452718"/>
            <a:ext cx="9404723" cy="1400530"/>
          </a:xfrm>
        </p:spPr>
        <p:txBody>
          <a:bodyPr/>
          <a:lstStyle/>
          <a:p>
            <a:r>
              <a:rPr lang="en-US" dirty="0"/>
              <a:t>What the elements mean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95A9C-E9F0-6CC4-CD63-5165CCD1D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Confidence – </a:t>
            </a:r>
            <a:r>
              <a:rPr lang="en-US" dirty="0"/>
              <a:t>a value between 1 and 0 saying how confident the model is that the image contains the </a:t>
            </a:r>
          </a:p>
          <a:p>
            <a:r>
              <a:rPr lang="en-US" b="1" dirty="0"/>
              <a:t>object_center_x – </a:t>
            </a:r>
            <a:r>
              <a:rPr lang="en-US" dirty="0"/>
              <a:t>the x coordinate of the center of the object in the image</a:t>
            </a:r>
          </a:p>
          <a:p>
            <a:r>
              <a:rPr lang="en-US" b="1" dirty="0"/>
              <a:t>object_center_y – </a:t>
            </a:r>
            <a:r>
              <a:rPr lang="en-US" dirty="0"/>
              <a:t>the x coordinate of the center of the object in the image</a:t>
            </a:r>
          </a:p>
          <a:p>
            <a:r>
              <a:rPr lang="en-US" b="1" dirty="0"/>
              <a:t>box_width – </a:t>
            </a:r>
            <a:r>
              <a:rPr lang="en-US" dirty="0"/>
              <a:t>the width (in pixels) of the bounding box we need to draw around our object</a:t>
            </a:r>
          </a:p>
          <a:p>
            <a:r>
              <a:rPr lang="en-US" b="1" dirty="0"/>
              <a:t>box_height – </a:t>
            </a:r>
            <a:r>
              <a:rPr lang="en-US" dirty="0"/>
              <a:t>the height (in pixels) of the bounding box we need to draw around our object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i="1" dirty="0"/>
              <a:t>Note: for now, we’ve moved away from being able to detect if multiple types of object are in the image and are now just predicting if 1 type of object is. Later versions of YOLO handle multiple objects but they’re a bit more complex.</a:t>
            </a:r>
            <a:endParaRPr lang="en-GB" b="1" i="1" dirty="0"/>
          </a:p>
        </p:txBody>
      </p:sp>
    </p:spTree>
    <p:extLst>
      <p:ext uri="{BB962C8B-B14F-4D97-AF65-F5344CB8AC3E}">
        <p14:creationId xmlns:p14="http://schemas.microsoft.com/office/powerpoint/2010/main" val="2423122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1667E-1F00-CABD-A6DE-3575AED5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looks like on an image</a:t>
            </a:r>
            <a:endParaRPr lang="en-GB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F53358C-D2B5-E65E-3929-25BE6123E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8438" y="2194560"/>
            <a:ext cx="5829300" cy="3886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4CE9FA5-D71B-999E-EB07-9CE73C423755}"/>
              </a:ext>
            </a:extLst>
          </p:cNvPr>
          <p:cNvSpPr txBox="1"/>
          <p:nvPr/>
        </p:nvSpPr>
        <p:spPr>
          <a:xfrm>
            <a:off x="4499187" y="3928805"/>
            <a:ext cx="1397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Raccoon center: (252,143)</a:t>
            </a:r>
            <a:endParaRPr lang="en-GB" sz="8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99286D-9996-1831-F4ED-B3C2E6E4D35B}"/>
              </a:ext>
            </a:extLst>
          </p:cNvPr>
          <p:cNvSpPr/>
          <p:nvPr/>
        </p:nvSpPr>
        <p:spPr>
          <a:xfrm>
            <a:off x="2931160" y="2799080"/>
            <a:ext cx="4206240" cy="2677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F4B68C2-CC4D-5713-8AA6-C5F345DD3B5A}"/>
              </a:ext>
            </a:extLst>
          </p:cNvPr>
          <p:cNvCxnSpPr/>
          <p:nvPr/>
        </p:nvCxnSpPr>
        <p:spPr>
          <a:xfrm>
            <a:off x="2931160" y="5674360"/>
            <a:ext cx="4206240" cy="0"/>
          </a:xfrm>
          <a:prstGeom prst="straightConnector1">
            <a:avLst/>
          </a:prstGeom>
          <a:ln>
            <a:solidFill>
              <a:schemeClr val="tx2">
                <a:lumMod val="1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F70968-F37B-2D0A-8B7A-84E54F651CA9}"/>
              </a:ext>
            </a:extLst>
          </p:cNvPr>
          <p:cNvCxnSpPr/>
          <p:nvPr/>
        </p:nvCxnSpPr>
        <p:spPr>
          <a:xfrm>
            <a:off x="7391400" y="2799080"/>
            <a:ext cx="0" cy="272288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65FBC5E-BF68-2CA2-0F42-02A18B4FEEA9}"/>
              </a:ext>
            </a:extLst>
          </p:cNvPr>
          <p:cNvSpPr txBox="1"/>
          <p:nvPr/>
        </p:nvSpPr>
        <p:spPr>
          <a:xfrm>
            <a:off x="4394200" y="5674360"/>
            <a:ext cx="170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Box_width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C19EFD-B67C-7AE2-AA5F-4CDF36A15940}"/>
              </a:ext>
            </a:extLst>
          </p:cNvPr>
          <p:cNvSpPr txBox="1"/>
          <p:nvPr/>
        </p:nvSpPr>
        <p:spPr>
          <a:xfrm>
            <a:off x="7512210" y="3774916"/>
            <a:ext cx="934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Box</a:t>
            </a:r>
          </a:p>
          <a:p>
            <a:r>
              <a:rPr lang="en-US" dirty="0">
                <a:solidFill>
                  <a:schemeClr val="bg1"/>
                </a:solidFill>
              </a:rPr>
              <a:t>Height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633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8121E-7641-09EA-F18C-38C1398D0E84}"/>
              </a:ext>
            </a:extLst>
          </p:cNvPr>
          <p:cNvSpPr txBox="1"/>
          <p:nvPr/>
        </p:nvSpPr>
        <p:spPr>
          <a:xfrm>
            <a:off x="2290812" y="2483318"/>
            <a:ext cx="83643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Are there any implications of changing our output vector?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102026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5E913-B762-8D81-8E72-EEA42A16E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CNN loss function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16B72-2BED-CDDE-0D36-11EB8D7A5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the classification CNN, the only thing the model could get wrong is what the image was.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therefore used a loss function such as Mean Squared Error that punished the model for putting a 1 in the wrong unit in the output vector.</a:t>
            </a:r>
          </a:p>
          <a:p>
            <a:pPr marL="0" indent="0">
              <a:buNone/>
            </a:pPr>
            <a:r>
              <a:rPr lang="en-US" i="1" dirty="0"/>
              <a:t>(where n = batch size)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98FD3-CED4-DDD8-E301-7D6F62DB4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152" y="4975286"/>
            <a:ext cx="3620781" cy="127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D0CE6-80ED-F35F-C048-8618B58C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 Loss function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901E5-9692-3D7C-6848-1A81870AD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Since for YOLO we’re predicting both if the object is in the image and where it is, there’s effectively now 2 things it can get wrong: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It can give a wrong prediction on if the object is in the image or not</a:t>
            </a:r>
          </a:p>
          <a:p>
            <a:r>
              <a:rPr lang="en-US" dirty="0"/>
              <a:t>It can give a wrong estimate for where the object is in the image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/>
              <a:t>However, if the image doesn’t actually have the object in it, it is unfair to punish the coordinate loss and instead we only punish the confidence loss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314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4B02-FC20-29D1-B12D-1E26182E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 Loss function - The Maths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569FC-DCA2-6EE8-7A4C-336E58D36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see a breakdown of it here if you like:</a:t>
            </a:r>
          </a:p>
          <a:p>
            <a:pPr marL="0" indent="0">
              <a:buNone/>
            </a:pPr>
            <a:r>
              <a:rPr lang="en-US" dirty="0"/>
              <a:t>[insert link to obsidian notes here]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3A779-2981-D36A-6FB6-711235472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2959971"/>
            <a:ext cx="6753214" cy="294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0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9DA0-DD06-D1FF-5FAA-C99BBB255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our YOLO model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89EDD-CF22-08AB-61D1-165A0F8CF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practice, no matter how good our model is, it’s never going to get the bounding boxes absolutely perfect every time.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We need a way of deciding if our model’s bounding box is close enough to the target.</a:t>
            </a:r>
          </a:p>
          <a:p>
            <a:pPr marL="0" indent="0">
              <a:buNone/>
            </a:pPr>
            <a:endParaRPr lang="en-GB" b="1" i="1" dirty="0"/>
          </a:p>
          <a:p>
            <a:pPr marL="0" indent="0">
              <a:buNone/>
            </a:pPr>
            <a:r>
              <a:rPr lang="en-GB" b="1" i="1" dirty="0"/>
              <a:t>Any ideas?</a:t>
            </a:r>
          </a:p>
        </p:txBody>
      </p:sp>
    </p:spTree>
    <p:extLst>
      <p:ext uri="{BB962C8B-B14F-4D97-AF65-F5344CB8AC3E}">
        <p14:creationId xmlns:p14="http://schemas.microsoft.com/office/powerpoint/2010/main" val="127843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000A-E2ED-9BE8-03DF-9089186EF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Intersection over union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07B7E-F7A0-7A04-5CFB-EF6B3A64D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6392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BEA5DD-78BF-40EA-EFFA-2A399FC63892}"/>
              </a:ext>
            </a:extLst>
          </p:cNvPr>
          <p:cNvSpPr txBox="1"/>
          <p:nvPr/>
        </p:nvSpPr>
        <p:spPr>
          <a:xfrm>
            <a:off x="2265145" y="2767280"/>
            <a:ext cx="83932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Now it’s time for you to try it yourselves!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4885654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57DF2-44F1-5495-EA09-B44CBA84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Kaggle Setup</a:t>
            </a:r>
            <a:endParaRPr lang="en-GB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B327CD-4A68-BF9B-5242-C938C88E02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5164" y="1576481"/>
            <a:ext cx="11171648" cy="2395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800" dirty="0"/>
              <a:t>Go to: </a:t>
            </a:r>
            <a:r>
              <a:rPr lang="en-US" sz="1800" dirty="0">
                <a:hlinkClick r:id="rId2"/>
              </a:rPr>
              <a:t>https://www.kaggle.com/</a:t>
            </a:r>
            <a:endParaRPr lang="en-US" sz="1800" dirty="0"/>
          </a:p>
          <a:p>
            <a:pPr>
              <a:buFont typeface="+mj-lt"/>
              <a:buAutoNum type="arabicPeriod"/>
            </a:pPr>
            <a:r>
              <a:rPr lang="en-US" sz="1800" dirty="0"/>
              <a:t>Create an account (if you don’t have one already)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Click the create button in the top left and select “Import Notebook” from the dropdown menu.</a:t>
            </a:r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E77CB-B14C-D2D2-6D67-0264AE225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65" y="2848883"/>
            <a:ext cx="4870383" cy="2432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0E77DF-7CCC-20DE-77B5-76C0C6B7FE3B}"/>
              </a:ext>
            </a:extLst>
          </p:cNvPr>
          <p:cNvSpPr txBox="1"/>
          <p:nvPr/>
        </p:nvSpPr>
        <p:spPr>
          <a:xfrm>
            <a:off x="646111" y="5630591"/>
            <a:ext cx="6097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5. Select “GitHub”</a:t>
            </a:r>
            <a:endParaRPr lang="en-US" dirty="0"/>
          </a:p>
          <a:p>
            <a:r>
              <a:rPr lang="en-US" sz="1800" dirty="0"/>
              <a:t>6. In the search prompt field enter: “</a:t>
            </a:r>
            <a:r>
              <a:rPr lang="en-US" sz="1800" dirty="0" err="1"/>
              <a:t>EdinburghAI</a:t>
            </a:r>
            <a:r>
              <a:rPr lang="en-US" sz="1800" dirty="0"/>
              <a:t>/workshops”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BD7DEF-4E85-71DA-44D4-14E4E4077A05}"/>
              </a:ext>
            </a:extLst>
          </p:cNvPr>
          <p:cNvSpPr/>
          <p:nvPr/>
        </p:nvSpPr>
        <p:spPr>
          <a:xfrm>
            <a:off x="523240" y="3036436"/>
            <a:ext cx="670560" cy="2668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3A064B-2CB8-FE9C-E9ED-8A59C8E03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067" y="5095772"/>
            <a:ext cx="4016552" cy="150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457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5E65-F7F9-EF16-356C-FDD440A4B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Kaggle set up - 2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4497D-110C-6044-E270-C5B69DD40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17182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4E83FB07F04C459E3D4859BB226254" ma:contentTypeVersion="9" ma:contentTypeDescription="Create a new document." ma:contentTypeScope="" ma:versionID="14b629d995b03d36575b92a1d14d8096">
  <xsd:schema xmlns:xsd="http://www.w3.org/2001/XMLSchema" xmlns:xs="http://www.w3.org/2001/XMLSchema" xmlns:p="http://schemas.microsoft.com/office/2006/metadata/properties" xmlns:ns3="a30c84a1-4044-4266-971f-de379c9d0faf" targetNamespace="http://schemas.microsoft.com/office/2006/metadata/properties" ma:root="true" ma:fieldsID="53a27268aa9346d9183993ee8b49e8cf" ns3:_="">
    <xsd:import namespace="a30c84a1-4044-4266-971f-de379c9d0fa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0c84a1-4044-4266-971f-de379c9d0fa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323E35E-6345-49A5-85C9-48071C6E03FE}">
  <ds:schemaRefs>
    <ds:schemaRef ds:uri="http://www.w3.org/XML/1998/namespace"/>
    <ds:schemaRef ds:uri="http://schemas.microsoft.com/office/2006/metadata/properties"/>
    <ds:schemaRef ds:uri="http://purl.org/dc/dcmitype/"/>
    <ds:schemaRef ds:uri="a30c84a1-4044-4266-971f-de379c9d0faf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361C6CC-BC8D-4FD7-B6D3-26AFF610E1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4A1AAB1-21D6-4FCA-BEAE-1DC08293669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0c84a1-4044-4266-971f-de379c9d0f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565</TotalTime>
  <Words>998</Words>
  <Application>Microsoft Office PowerPoint</Application>
  <PresentationFormat>Widescreen</PresentationFormat>
  <Paragraphs>112</Paragraphs>
  <Slides>28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Ion</vt:lpstr>
      <vt:lpstr>Intro to Object Detection</vt:lpstr>
      <vt:lpstr>What we’ll be building today</vt:lpstr>
      <vt:lpstr>PowerPoint Presentation</vt:lpstr>
      <vt:lpstr>Neural Network overview</vt:lpstr>
      <vt:lpstr>PowerPoint Presentation</vt:lpstr>
      <vt:lpstr>How can we apply a neural network to images?</vt:lpstr>
      <vt:lpstr>Convolutional Neural Network</vt:lpstr>
      <vt:lpstr>So, what is a convolution?</vt:lpstr>
      <vt:lpstr>Why do we use convolutions for image processing</vt:lpstr>
      <vt:lpstr>Example: What’s in this image?</vt:lpstr>
      <vt:lpstr>A person! (debatably)</vt:lpstr>
      <vt:lpstr>How can a neural network classify what this is an image of</vt:lpstr>
      <vt:lpstr>Example</vt:lpstr>
      <vt:lpstr>PowerPoint Presentation</vt:lpstr>
      <vt:lpstr>PowerPoint Presentation</vt:lpstr>
      <vt:lpstr>What is YOLO?</vt:lpstr>
      <vt:lpstr>YOLO makes one main simple change to our classification model</vt:lpstr>
      <vt:lpstr>What the elements mean</vt:lpstr>
      <vt:lpstr>What this looks like on an image</vt:lpstr>
      <vt:lpstr>PowerPoint Presentation</vt:lpstr>
      <vt:lpstr>Classification CNN loss function</vt:lpstr>
      <vt:lpstr>YOLO Loss function</vt:lpstr>
      <vt:lpstr>YOLO Loss function - The Maths </vt:lpstr>
      <vt:lpstr>Evaluating our YOLO model</vt:lpstr>
      <vt:lpstr>Intersection over union</vt:lpstr>
      <vt:lpstr>PowerPoint Presentation</vt:lpstr>
      <vt:lpstr>Kaggle Setup</vt:lpstr>
      <vt:lpstr>Kaggle set up - 2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Conor O'Shea</dc:creator>
  <cp:lastModifiedBy>Conor O'Shea</cp:lastModifiedBy>
  <cp:revision>2</cp:revision>
  <dcterms:created xsi:type="dcterms:W3CDTF">2026-01-22T13:25:45Z</dcterms:created>
  <dcterms:modified xsi:type="dcterms:W3CDTF">2026-01-26T00:59:17Z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0x010100F84E83FB07F04C459E3D4859BB226254</vt:lpwstr>
  </property>
</Properties>
</file>